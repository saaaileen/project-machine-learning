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Lilita One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64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svg"/><Relationship Id="rId10" Type="http://schemas.openxmlformats.org/officeDocument/2006/relationships/image" Target="../media/image20.png"/><Relationship Id="rId4" Type="http://schemas.openxmlformats.org/officeDocument/2006/relationships/image" Target="../media/image3.sv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hyperlink" Target="https://huggingface.co/spaces/KenHoH/ML_Security" TargetMode="Externa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>
            <a:off x="14192732" y="6400545"/>
            <a:ext cx="3614143" cy="3449864"/>
          </a:xfrm>
          <a:custGeom>
            <a:avLst/>
            <a:gdLst/>
            <a:ahLst/>
            <a:cxnLst/>
            <a:rect l="l" t="t" r="r" b="b"/>
            <a:pathLst>
              <a:path w="3614143" h="3449864">
                <a:moveTo>
                  <a:pt x="0" y="0"/>
                </a:moveTo>
                <a:lnTo>
                  <a:pt x="3614143" y="0"/>
                </a:lnTo>
                <a:lnTo>
                  <a:pt x="3614143" y="3449863"/>
                </a:lnTo>
                <a:lnTo>
                  <a:pt x="0" y="34498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TextBox 9"/>
          <p:cNvSpPr txBox="1"/>
          <p:nvPr/>
        </p:nvSpPr>
        <p:spPr>
          <a:xfrm>
            <a:off x="1101645" y="3198029"/>
            <a:ext cx="16084710" cy="305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3318" lvl="1" indent="-1081659" algn="l">
              <a:lnSpc>
                <a:spcPts val="12023"/>
              </a:lnSpc>
              <a:buFont typeface="Arial"/>
              <a:buChar char="•"/>
            </a:pPr>
            <a:r>
              <a:rPr lang="en-US" sz="10019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DDoS Attack Prediction Using Machine Learning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68185" y="6905625"/>
            <a:ext cx="5151629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1"/>
              </a:lnSpc>
            </a:pPr>
            <a:r>
              <a:rPr lang="en-US" sz="2651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Group 3 :</a:t>
            </a:r>
          </a:p>
          <a:p>
            <a:pPr marL="572351" lvl="1" indent="-286176" algn="l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Jonathan Christian Wongso</a:t>
            </a:r>
          </a:p>
          <a:p>
            <a:pPr marL="572351" lvl="1" indent="-286176" algn="l">
              <a:lnSpc>
                <a:spcPts val="3181"/>
              </a:lnSpc>
              <a:buFont typeface="Arial"/>
              <a:buChar char="•"/>
            </a:pPr>
            <a:r>
              <a:rPr lang="en-US" sz="2651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Kenneth Maximillian Pranata</a:t>
            </a:r>
          </a:p>
          <a:p>
            <a:pPr marL="572351" lvl="1" indent="-286176" algn="l">
              <a:lnSpc>
                <a:spcPts val="3181"/>
              </a:lnSpc>
              <a:spcBef>
                <a:spcPct val="0"/>
              </a:spcBef>
              <a:buFont typeface="Arial"/>
              <a:buChar char="•"/>
            </a:pPr>
            <a:r>
              <a:rPr lang="en-US" sz="2651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Sisilia Annabel Aileen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1028700" y="1028700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Motivation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00565" y="3363201"/>
            <a:ext cx="15532546" cy="4076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3375" lvl="1" indent="-416687" algn="l">
              <a:lnSpc>
                <a:spcPts val="4632"/>
              </a:lnSpc>
              <a:buFont typeface="Arial"/>
              <a:buChar char="•"/>
            </a:pPr>
            <a:r>
              <a:rPr lang="en-US" sz="386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DDoS attacks are becoming more frequent and sophisticated.</a:t>
            </a:r>
          </a:p>
          <a:p>
            <a:pPr marL="833375" lvl="1" indent="-416687" algn="l">
              <a:lnSpc>
                <a:spcPts val="4632"/>
              </a:lnSpc>
              <a:buFont typeface="Arial"/>
              <a:buChar char="•"/>
            </a:pPr>
            <a:r>
              <a:rPr lang="en-US" sz="386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Early detection can reduce service downtime, financial losses, and security risks.</a:t>
            </a:r>
          </a:p>
          <a:p>
            <a:pPr marL="833375" lvl="1" indent="-416687" algn="l">
              <a:lnSpc>
                <a:spcPts val="4632"/>
              </a:lnSpc>
              <a:buFont typeface="Arial"/>
              <a:buChar char="•"/>
            </a:pPr>
            <a:r>
              <a:rPr lang="en-US" sz="386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Machine learning can learn traffic patterns and detect attacks more effectively than static rule-based methods.</a:t>
            </a:r>
          </a:p>
          <a:p>
            <a:pPr marL="833375" lvl="1" indent="-416687" algn="l">
              <a:lnSpc>
                <a:spcPts val="4632"/>
              </a:lnSpc>
              <a:spcBef>
                <a:spcPct val="0"/>
              </a:spcBef>
              <a:buFont typeface="Arial"/>
              <a:buChar char="•"/>
            </a:pPr>
            <a:r>
              <a:rPr lang="en-US" sz="386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The project aims to provide real-time attack detection and monitoring through a user-friendly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1028700" y="1198068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265921" y="3234014"/>
            <a:ext cx="15071237" cy="541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4788" lvl="1" indent="-427394" algn="l">
              <a:lnSpc>
                <a:spcPts val="4751"/>
              </a:lnSpc>
              <a:buFont typeface="Arial"/>
              <a:buChar char="•"/>
            </a:pPr>
            <a:r>
              <a:rPr lang="en-US" sz="3959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DDoS attacks can disrupt online services by flooding networks with malicious traffic.</a:t>
            </a:r>
          </a:p>
          <a:p>
            <a:pPr marL="854788" lvl="1" indent="-427394" algn="l">
              <a:lnSpc>
                <a:spcPts val="4751"/>
              </a:lnSpc>
              <a:buFont typeface="Arial"/>
              <a:buChar char="•"/>
            </a:pPr>
            <a:r>
              <a:rPr lang="en-US" sz="3959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Traditional rule-based detection systems struggle to identify new and evolving attack patterns.</a:t>
            </a:r>
          </a:p>
          <a:p>
            <a:pPr marL="854788" lvl="1" indent="-427394" algn="l">
              <a:lnSpc>
                <a:spcPts val="4751"/>
              </a:lnSpc>
              <a:buFont typeface="Arial"/>
              <a:buChar char="•"/>
            </a:pPr>
            <a:r>
              <a:rPr lang="en-US" sz="3959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The large volume of network traffic makes manual monitoring ineffective for real-time threat detection.</a:t>
            </a:r>
          </a:p>
          <a:p>
            <a:pPr marL="854788" lvl="1" indent="-427394" algn="l">
              <a:lnSpc>
                <a:spcPts val="4751"/>
              </a:lnSpc>
              <a:spcBef>
                <a:spcPct val="0"/>
              </a:spcBef>
              <a:buFont typeface="Arial"/>
              <a:buChar char="•"/>
            </a:pPr>
            <a:r>
              <a:rPr lang="en-US" sz="3959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An automated and intelligent detection system is needed to identify DDoS attacks quickly and accurately.</a:t>
            </a:r>
          </a:p>
          <a:p>
            <a:pPr algn="l">
              <a:lnSpc>
                <a:spcPts val="4751"/>
              </a:lnSpc>
              <a:spcBef>
                <a:spcPct val="0"/>
              </a:spcBef>
            </a:pPr>
            <a:endParaRPr lang="en-US" sz="3959" dirty="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742321" y="1028700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Dataset Description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53927" y="3022823"/>
            <a:ext cx="15322468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54"/>
              </a:lnSpc>
            </a:pPr>
            <a:r>
              <a:rPr lang="en-US" sz="354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Dataset Name : BCCC-cPacket-Cloud-DDoS-2024</a:t>
            </a:r>
          </a:p>
          <a:p>
            <a:pPr algn="l">
              <a:lnSpc>
                <a:spcPts val="4254"/>
              </a:lnSpc>
            </a:pPr>
            <a:r>
              <a:rPr lang="en-US" sz="354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Author Introduction about the dataset :</a:t>
            </a:r>
          </a:p>
          <a:p>
            <a:pPr algn="l">
              <a:lnSpc>
                <a:spcPts val="4254"/>
              </a:lnSpc>
              <a:spcBef>
                <a:spcPct val="0"/>
              </a:spcBef>
            </a:pPr>
            <a:r>
              <a:rPr lang="en-US" sz="354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The 'BCCC-cPacket-Cloud-DDoS-2024' dataset collaboratively with </a:t>
            </a:r>
            <a:r>
              <a:rPr lang="en-US" sz="3545" dirty="0" err="1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cPacket</a:t>
            </a:r>
            <a:r>
              <a:rPr lang="en-US" sz="354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 from the States to address challenges identified in previous datasets through a cloud infrastructure. The dataset contains over eight benign user activities and 17 DDoS attack scenarios. The dataset is fully labeled (with a total of 26 labels) with over 300 features extracted from the network and transport layers of the traffic flows using </a:t>
            </a:r>
            <a:r>
              <a:rPr lang="en-US" sz="3545" dirty="0" err="1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NTLFlowLyzer</a:t>
            </a:r>
            <a:r>
              <a:rPr lang="en-US" sz="354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53927" y="7777329"/>
            <a:ext cx="15322468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4"/>
              </a:lnSpc>
              <a:spcBef>
                <a:spcPct val="0"/>
              </a:spcBef>
            </a:pPr>
            <a:r>
              <a:rPr lang="en-US" sz="2545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Paper Reference : https://www.mdpi.com/2078-2489/15/4/195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499541" y="-590558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7" y="0"/>
                </a:lnTo>
                <a:lnTo>
                  <a:pt x="3119437" y="3102423"/>
                </a:lnTo>
                <a:lnTo>
                  <a:pt x="0" y="3102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>
            <a:off x="1144896" y="3389706"/>
            <a:ext cx="4598727" cy="455320"/>
          </a:xfrm>
          <a:custGeom>
            <a:avLst/>
            <a:gdLst/>
            <a:ahLst/>
            <a:cxnLst/>
            <a:rect l="l" t="t" r="r" b="b"/>
            <a:pathLst>
              <a:path w="4598727" h="455320">
                <a:moveTo>
                  <a:pt x="0" y="0"/>
                </a:moveTo>
                <a:lnTo>
                  <a:pt x="4598727" y="0"/>
                </a:lnTo>
                <a:lnTo>
                  <a:pt x="4598727" y="455320"/>
                </a:lnTo>
                <a:lnTo>
                  <a:pt x="0" y="4553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Freeform 9"/>
          <p:cNvSpPr/>
          <p:nvPr/>
        </p:nvSpPr>
        <p:spPr>
          <a:xfrm>
            <a:off x="1144896" y="4988828"/>
            <a:ext cx="4371330" cy="392281"/>
          </a:xfrm>
          <a:custGeom>
            <a:avLst/>
            <a:gdLst/>
            <a:ahLst/>
            <a:cxnLst/>
            <a:rect l="l" t="t" r="r" b="b"/>
            <a:pathLst>
              <a:path w="4371330" h="392281">
                <a:moveTo>
                  <a:pt x="0" y="0"/>
                </a:moveTo>
                <a:lnTo>
                  <a:pt x="4371330" y="0"/>
                </a:lnTo>
                <a:lnTo>
                  <a:pt x="4371330" y="392280"/>
                </a:lnTo>
                <a:lnTo>
                  <a:pt x="0" y="392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3878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0" name="Freeform 10"/>
          <p:cNvSpPr/>
          <p:nvPr/>
        </p:nvSpPr>
        <p:spPr>
          <a:xfrm>
            <a:off x="1144896" y="6282640"/>
            <a:ext cx="3709825" cy="454159"/>
          </a:xfrm>
          <a:custGeom>
            <a:avLst/>
            <a:gdLst/>
            <a:ahLst/>
            <a:cxnLst/>
            <a:rect l="l" t="t" r="r" b="b"/>
            <a:pathLst>
              <a:path w="3709825" h="454159">
                <a:moveTo>
                  <a:pt x="0" y="0"/>
                </a:moveTo>
                <a:lnTo>
                  <a:pt x="3709825" y="0"/>
                </a:lnTo>
                <a:lnTo>
                  <a:pt x="3709825" y="454159"/>
                </a:lnTo>
                <a:lnTo>
                  <a:pt x="0" y="4541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6878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>
          <a:xfrm>
            <a:off x="9860681" y="3018535"/>
            <a:ext cx="4546028" cy="3567768"/>
          </a:xfrm>
          <a:custGeom>
            <a:avLst/>
            <a:gdLst/>
            <a:ahLst/>
            <a:cxnLst/>
            <a:rect l="l" t="t" r="r" b="b"/>
            <a:pathLst>
              <a:path w="4546028" h="3567768">
                <a:moveTo>
                  <a:pt x="0" y="0"/>
                </a:moveTo>
                <a:lnTo>
                  <a:pt x="4546028" y="0"/>
                </a:lnTo>
                <a:lnTo>
                  <a:pt x="4546028" y="3567769"/>
                </a:lnTo>
                <a:lnTo>
                  <a:pt x="0" y="3567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Freeform 12"/>
          <p:cNvSpPr/>
          <p:nvPr/>
        </p:nvSpPr>
        <p:spPr>
          <a:xfrm>
            <a:off x="9860681" y="7631514"/>
            <a:ext cx="5671419" cy="2184891"/>
          </a:xfrm>
          <a:custGeom>
            <a:avLst/>
            <a:gdLst/>
            <a:ahLst/>
            <a:cxnLst/>
            <a:rect l="l" t="t" r="r" b="b"/>
            <a:pathLst>
              <a:path w="5671419" h="2184891">
                <a:moveTo>
                  <a:pt x="0" y="0"/>
                </a:moveTo>
                <a:lnTo>
                  <a:pt x="5671419" y="0"/>
                </a:lnTo>
                <a:lnTo>
                  <a:pt x="5671419" y="2184891"/>
                </a:lnTo>
                <a:lnTo>
                  <a:pt x="0" y="21848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3" name="Freeform 13"/>
          <p:cNvSpPr/>
          <p:nvPr/>
        </p:nvSpPr>
        <p:spPr>
          <a:xfrm>
            <a:off x="1144896" y="7722571"/>
            <a:ext cx="6651292" cy="880705"/>
          </a:xfrm>
          <a:custGeom>
            <a:avLst/>
            <a:gdLst/>
            <a:ahLst/>
            <a:cxnLst/>
            <a:rect l="l" t="t" r="r" b="b"/>
            <a:pathLst>
              <a:path w="6651292" h="880705">
                <a:moveTo>
                  <a:pt x="0" y="0"/>
                </a:moveTo>
                <a:lnTo>
                  <a:pt x="6651292" y="0"/>
                </a:lnTo>
                <a:lnTo>
                  <a:pt x="6651292" y="880705"/>
                </a:lnTo>
                <a:lnTo>
                  <a:pt x="0" y="880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4" name="TextBox 14"/>
          <p:cNvSpPr txBox="1"/>
          <p:nvPr/>
        </p:nvSpPr>
        <p:spPr>
          <a:xfrm>
            <a:off x="0" y="586378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Exploratory Data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47995" y="2490062"/>
            <a:ext cx="6126706" cy="889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Dataset Shape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1075" y="6875455"/>
            <a:ext cx="3614187" cy="84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Dataset Info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047819"/>
            <a:ext cx="4215947" cy="84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Missing Values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55928" y="5435523"/>
            <a:ext cx="4549266" cy="84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Duplicated Rows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546902" y="2171445"/>
            <a:ext cx="5173587" cy="84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sz="4899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Class Distribution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82455" y="6632024"/>
            <a:ext cx="5038033" cy="847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sz="4899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Dataset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742321" y="1028700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ML Problem Formulation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1269" y="3288613"/>
            <a:ext cx="16803042" cy="534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5483" lvl="1" indent="-382741" algn="l">
              <a:lnSpc>
                <a:spcPts val="4254"/>
              </a:lnSpc>
              <a:buAutoNum type="arabicPeriod"/>
            </a:pPr>
            <a:r>
              <a:rPr lang="en-US" sz="354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How can machine learning techniques be utilized to detect DDoS attacks from network traffic data?</a:t>
            </a:r>
          </a:p>
          <a:p>
            <a:pPr marL="765483" lvl="1" indent="-382741" algn="l">
              <a:lnSpc>
                <a:spcPts val="4254"/>
              </a:lnSpc>
              <a:buAutoNum type="arabicPeriod"/>
            </a:pPr>
            <a:r>
              <a:rPr lang="en-US" sz="354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Which machine learning algorithm provides the best performance for DDoS attack detection in terms of accuracy, precision, recall, F1-score, and ROC-AUC?</a:t>
            </a:r>
          </a:p>
          <a:p>
            <a:pPr marL="765483" lvl="1" indent="-382741" algn="l">
              <a:lnSpc>
                <a:spcPts val="4254"/>
              </a:lnSpc>
              <a:buAutoNum type="arabicPeriod"/>
            </a:pPr>
            <a:r>
              <a:rPr lang="en-US" sz="354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How effectively can the proposed system classify network traffic into benign and DDoS categories in a near real-time monitoring environment?</a:t>
            </a:r>
          </a:p>
          <a:p>
            <a:pPr marL="765483" lvl="1" indent="-382741" algn="l">
              <a:lnSpc>
                <a:spcPts val="4254"/>
              </a:lnSpc>
              <a:buAutoNum type="arabicPeriod"/>
            </a:pPr>
            <a:r>
              <a:rPr lang="en-US" sz="354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How can a machine learning-based intrusion detection system be integrated into a real-time monitoring dashboard to provide timely attack alerts and historical traffic analysis?</a:t>
            </a:r>
          </a:p>
          <a:p>
            <a:pPr algn="l">
              <a:lnSpc>
                <a:spcPts val="4254"/>
              </a:lnSpc>
              <a:spcBef>
                <a:spcPct val="0"/>
              </a:spcBef>
            </a:pPr>
            <a:endParaRPr lang="en-US" sz="3545" dirty="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561712" y="-1362020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7" y="0"/>
                </a:lnTo>
                <a:lnTo>
                  <a:pt x="3119437" y="3102423"/>
                </a:lnTo>
                <a:lnTo>
                  <a:pt x="0" y="3102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11122" y="9510665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199" y="0"/>
                </a:lnTo>
                <a:lnTo>
                  <a:pt x="631199" y="611689"/>
                </a:lnTo>
                <a:lnTo>
                  <a:pt x="0" y="6116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742321" y="266700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Model a &amp; Rationale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943100"/>
            <a:ext cx="16104411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AutoNum type="arabicPeriod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Logistic Regression (floor)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Simplest model to set the minimum acceptable accuracy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Any model that can't beat it is considered a failure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Creates a benchmark ladder: simple → moderate → complex</a:t>
            </a:r>
          </a:p>
          <a:p>
            <a:pPr algn="l">
              <a:lnSpc>
                <a:spcPts val="2400"/>
              </a:lnSpc>
            </a:pPr>
            <a:endParaRPr lang="en-US" sz="200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431801" lvl="1" indent="-215900" algn="l">
              <a:lnSpc>
                <a:spcPts val="2400"/>
              </a:lnSpc>
              <a:buAutoNum type="arabicPeriod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SVM (baseline)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Represents a different algorithm family (margin-based) outside of tree-based methods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Used to measure whether tree-based models genuinely outperform non-ensemble approaches</a:t>
            </a:r>
          </a:p>
          <a:p>
            <a:pPr algn="l">
              <a:lnSpc>
                <a:spcPts val="2400"/>
              </a:lnSpc>
            </a:pPr>
            <a:endParaRPr lang="en-US" sz="200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431801" lvl="1" indent="-215900" algn="l">
              <a:lnSpc>
                <a:spcPts val="2400"/>
              </a:lnSpc>
              <a:buAutoNum type="arabicPeriod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KNN (baseline)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Represents instance-based, non-parametric learning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Tests how distance-based methods degrade under high-dimensional network features — expected to underperform, strengthening the case for primary models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6074229"/>
            <a:ext cx="16104411" cy="366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400"/>
              </a:lnSpc>
              <a:buAutoNum type="arabicPeriod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Random Forest (primary)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Handles high-dimensional features natively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Captures non-linear relationships in traffic patterns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Robust against noisy data through tree averaging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Optimizable for speed — fits the "Live Listen" near real-time requirement</a:t>
            </a:r>
          </a:p>
          <a:p>
            <a:pPr algn="l">
              <a:lnSpc>
                <a:spcPts val="2400"/>
              </a:lnSpc>
            </a:pPr>
            <a:endParaRPr lang="en-US" sz="200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431801" lvl="1" indent="-215900" algn="l">
              <a:lnSpc>
                <a:spcPts val="2400"/>
              </a:lnSpc>
              <a:buAutoNum type="arabicPeriod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XGBoost (primary)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All Random Forest strengths, plus gradient boosting for higher accuracy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Recognized as the best-in-class for tabular data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Built-in regularization prevents overfitting across varied attack types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Supports parallel processing for lightweight, fast deployment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7476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742321" y="1028700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Training &amp; Validation Setup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9900" y="3390576"/>
            <a:ext cx="16104411" cy="47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194" lvl="1" indent="-340597" algn="l">
              <a:lnSpc>
                <a:spcPts val="3786"/>
              </a:lnSpc>
              <a:buFont typeface="Arial"/>
              <a:buChar char="•"/>
            </a:pP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Dataset split ratio 80% train : 10 % validation : 10% testing </a:t>
            </a:r>
          </a:p>
          <a:p>
            <a:pPr marL="681194" lvl="1" indent="-340597" algn="l">
              <a:lnSpc>
                <a:spcPts val="3786"/>
              </a:lnSpc>
              <a:buFont typeface="Arial"/>
              <a:buChar char="•"/>
            </a:pP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Imputation: Safely handles missing data  </a:t>
            </a:r>
          </a:p>
          <a:p>
            <a:pPr marL="681194" lvl="1" indent="-340597" algn="l">
              <a:lnSpc>
                <a:spcPts val="3786"/>
              </a:lnSpc>
              <a:buFont typeface="Arial"/>
              <a:buChar char="•"/>
            </a:pP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Scaling dataset after split</a:t>
            </a:r>
          </a:p>
          <a:p>
            <a:pPr marL="681194" lvl="1" indent="-340597" algn="l">
              <a:lnSpc>
                <a:spcPts val="3786"/>
              </a:lnSpc>
              <a:buFont typeface="Arial"/>
              <a:buChar char="•"/>
            </a:pP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Dimensionality Reduction (Curse of Dimensionality) → PCA</a:t>
            </a:r>
          </a:p>
          <a:p>
            <a:pPr marL="681194" lvl="1" indent="-340597" algn="l">
              <a:lnSpc>
                <a:spcPts val="3786"/>
              </a:lnSpc>
              <a:buFont typeface="Arial"/>
              <a:buChar char="•"/>
            </a:pP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Hyperparameter tuning Cross-Validation</a:t>
            </a:r>
          </a:p>
          <a:p>
            <a:pPr marL="681194" lvl="1" indent="-340597" algn="l">
              <a:lnSpc>
                <a:spcPts val="3786"/>
              </a:lnSpc>
              <a:buFont typeface="Arial"/>
              <a:buChar char="•"/>
            </a:pP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Handling class imbalance → implementing </a:t>
            </a:r>
            <a:r>
              <a:rPr lang="en-US" sz="3155" dirty="0" err="1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class_weight</a:t>
            </a: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=”balanced” and “</a:t>
            </a:r>
            <a:r>
              <a:rPr lang="en-US" sz="3155" dirty="0" err="1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balanced_subsample</a:t>
            </a: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” </a:t>
            </a:r>
          </a:p>
          <a:p>
            <a:pPr marL="681194" lvl="1" indent="-340597" algn="l">
              <a:lnSpc>
                <a:spcPts val="3786"/>
              </a:lnSpc>
              <a:buFont typeface="Arial"/>
              <a:buChar char="•"/>
            </a:pP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Tuning Metric → “f1_macro” finding hyperparameter for predicting all classes equally</a:t>
            </a:r>
          </a:p>
          <a:p>
            <a:pPr marL="681194" lvl="1" indent="-340597" algn="l">
              <a:lnSpc>
                <a:spcPts val="3786"/>
              </a:lnSpc>
              <a:buFont typeface="Arial"/>
              <a:buChar char="•"/>
            </a:pP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implemented multi-dimensional evaluation (F1-Score, accuracy, precision, accuracy, recall, ROC-AUC score)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742321" y="1028700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Evaluation Metric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53078" y="3346931"/>
            <a:ext cx="8581844" cy="459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l">
              <a:lnSpc>
                <a:spcPts val="6000"/>
              </a:lnSpc>
              <a:buAutoNum type="arabicPeriod"/>
            </a:pPr>
            <a:r>
              <a:rPr lang="en-US" sz="500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Accuracy</a:t>
            </a:r>
          </a:p>
          <a:p>
            <a:pPr marL="1079501" lvl="1" indent="-539750" algn="l">
              <a:lnSpc>
                <a:spcPts val="6000"/>
              </a:lnSpc>
              <a:buAutoNum type="arabicPeriod"/>
            </a:pPr>
            <a:r>
              <a:rPr lang="en-US" sz="500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Precision </a:t>
            </a:r>
          </a:p>
          <a:p>
            <a:pPr marL="1079501" lvl="1" indent="-539750" algn="l">
              <a:lnSpc>
                <a:spcPts val="6000"/>
              </a:lnSpc>
              <a:buAutoNum type="arabicPeriod"/>
            </a:pPr>
            <a:r>
              <a:rPr lang="en-US" sz="500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Recall </a:t>
            </a:r>
          </a:p>
          <a:p>
            <a:pPr marL="1079501" lvl="1" indent="-539750" algn="l">
              <a:lnSpc>
                <a:spcPts val="6000"/>
              </a:lnSpc>
              <a:buAutoNum type="arabicPeriod"/>
            </a:pPr>
            <a:r>
              <a:rPr lang="en-US" sz="500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F1-Score</a:t>
            </a:r>
          </a:p>
          <a:p>
            <a:pPr marL="1079501" lvl="1" indent="-539750" algn="l">
              <a:lnSpc>
                <a:spcPts val="6000"/>
              </a:lnSpc>
              <a:buAutoNum type="arabicPeriod"/>
            </a:pPr>
            <a:r>
              <a:rPr lang="en-US" sz="500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F1-Macro vs F1-Weighted</a:t>
            </a:r>
          </a:p>
          <a:p>
            <a:pPr marL="1079501" lvl="1" indent="-539750" algn="l">
              <a:lnSpc>
                <a:spcPts val="6000"/>
              </a:lnSpc>
              <a:spcBef>
                <a:spcPct val="0"/>
              </a:spcBef>
              <a:buAutoNum type="arabicPeriod"/>
            </a:pPr>
            <a:r>
              <a:rPr lang="en-US" sz="5000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ROC-AUC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5184260" y="3930185"/>
            <a:ext cx="7919479" cy="241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24"/>
              </a:lnSpc>
              <a:spcBef>
                <a:spcPct val="0"/>
              </a:spcBef>
            </a:pPr>
            <a:r>
              <a:rPr lang="en-US" sz="15854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Result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871350" y="-764730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6436511" y="2644694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2426843" y="2820345"/>
            <a:ext cx="13434314" cy="6196577"/>
          </a:xfrm>
          <a:custGeom>
            <a:avLst/>
            <a:gdLst/>
            <a:ahLst/>
            <a:cxnLst/>
            <a:rect l="l" t="t" r="r" b="b"/>
            <a:pathLst>
              <a:path w="13434314" h="6196577">
                <a:moveTo>
                  <a:pt x="0" y="0"/>
                </a:moveTo>
                <a:lnTo>
                  <a:pt x="13434314" y="0"/>
                </a:lnTo>
                <a:lnTo>
                  <a:pt x="13434314" y="6196577"/>
                </a:lnTo>
                <a:lnTo>
                  <a:pt x="0" y="61965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371161" y="748700"/>
            <a:ext cx="17545679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Overall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871350" y="-764730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6436511" y="2644694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45215" y="3913609"/>
            <a:ext cx="14797571" cy="4272799"/>
          </a:xfrm>
          <a:custGeom>
            <a:avLst/>
            <a:gdLst/>
            <a:ahLst/>
            <a:cxnLst/>
            <a:rect l="l" t="t" r="r" b="b"/>
            <a:pathLst>
              <a:path w="14797571" h="4272799">
                <a:moveTo>
                  <a:pt x="0" y="0"/>
                </a:moveTo>
                <a:lnTo>
                  <a:pt x="14797570" y="0"/>
                </a:lnTo>
                <a:lnTo>
                  <a:pt x="14797570" y="4272799"/>
                </a:lnTo>
                <a:lnTo>
                  <a:pt x="0" y="42727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371161" y="748700"/>
            <a:ext cx="17545679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Per-class F1 score (Suspicious)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871350" y="-764730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2354115" y="1213725"/>
            <a:ext cx="9144000" cy="3726180"/>
          </a:xfrm>
          <a:custGeom>
            <a:avLst/>
            <a:gdLst/>
            <a:ahLst/>
            <a:cxnLst/>
            <a:rect l="l" t="t" r="r" b="b"/>
            <a:pathLst>
              <a:path w="9144000" h="3726180">
                <a:moveTo>
                  <a:pt x="0" y="0"/>
                </a:moveTo>
                <a:lnTo>
                  <a:pt x="9144000" y="0"/>
                </a:lnTo>
                <a:lnTo>
                  <a:pt x="9144000" y="3726180"/>
                </a:lnTo>
                <a:lnTo>
                  <a:pt x="0" y="37261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TextBox 6"/>
          <p:cNvSpPr txBox="1"/>
          <p:nvPr/>
        </p:nvSpPr>
        <p:spPr>
          <a:xfrm>
            <a:off x="2354115" y="385050"/>
            <a:ext cx="8885295" cy="785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9"/>
              </a:lnSpc>
              <a:spcBef>
                <a:spcPct val="0"/>
              </a:spcBef>
            </a:pPr>
            <a:r>
              <a:rPr lang="en-US" sz="5399" spc="215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Per-class F1 — all classes</a:t>
            </a:r>
          </a:p>
        </p:txBody>
      </p:sp>
      <p:sp>
        <p:nvSpPr>
          <p:cNvPr id="7" name="Freeform 7"/>
          <p:cNvSpPr/>
          <p:nvPr/>
        </p:nvSpPr>
        <p:spPr>
          <a:xfrm>
            <a:off x="2354115" y="6064408"/>
            <a:ext cx="11528178" cy="3285531"/>
          </a:xfrm>
          <a:custGeom>
            <a:avLst/>
            <a:gdLst/>
            <a:ahLst/>
            <a:cxnLst/>
            <a:rect l="l" t="t" r="r" b="b"/>
            <a:pathLst>
              <a:path w="11528178" h="3285531">
                <a:moveTo>
                  <a:pt x="0" y="0"/>
                </a:moveTo>
                <a:lnTo>
                  <a:pt x="11528178" y="0"/>
                </a:lnTo>
                <a:lnTo>
                  <a:pt x="11528178" y="3285531"/>
                </a:lnTo>
                <a:lnTo>
                  <a:pt x="0" y="32855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2354115" y="5254783"/>
            <a:ext cx="7923771" cy="80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  <a:spcBef>
                <a:spcPct val="0"/>
              </a:spcBef>
            </a:pPr>
            <a:r>
              <a:rPr lang="en-US" sz="5200" spc="208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ROC-AUC comparison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>
            <a:off x="2454374" y="4155957"/>
            <a:ext cx="5522856" cy="3265389"/>
          </a:xfrm>
          <a:custGeom>
            <a:avLst/>
            <a:gdLst/>
            <a:ahLst/>
            <a:cxnLst/>
            <a:rect l="l" t="t" r="r" b="b"/>
            <a:pathLst>
              <a:path w="5522856" h="3265389">
                <a:moveTo>
                  <a:pt x="0" y="0"/>
                </a:moveTo>
                <a:lnTo>
                  <a:pt x="5522857" y="0"/>
                </a:lnTo>
                <a:lnTo>
                  <a:pt x="5522857" y="3265388"/>
                </a:lnTo>
                <a:lnTo>
                  <a:pt x="0" y="3265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Freeform 9"/>
          <p:cNvSpPr/>
          <p:nvPr/>
        </p:nvSpPr>
        <p:spPr>
          <a:xfrm>
            <a:off x="2490427" y="7850309"/>
            <a:ext cx="1963375" cy="1963375"/>
          </a:xfrm>
          <a:custGeom>
            <a:avLst/>
            <a:gdLst/>
            <a:ahLst/>
            <a:cxnLst/>
            <a:rect l="l" t="t" r="r" b="b"/>
            <a:pathLst>
              <a:path w="1963375" h="1963375">
                <a:moveTo>
                  <a:pt x="0" y="0"/>
                </a:moveTo>
                <a:lnTo>
                  <a:pt x="1963375" y="0"/>
                </a:lnTo>
                <a:lnTo>
                  <a:pt x="1963375" y="1963375"/>
                </a:lnTo>
                <a:lnTo>
                  <a:pt x="0" y="1963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0" name="Freeform 10"/>
          <p:cNvSpPr/>
          <p:nvPr/>
        </p:nvSpPr>
        <p:spPr>
          <a:xfrm>
            <a:off x="5050642" y="7726639"/>
            <a:ext cx="2928099" cy="2210715"/>
          </a:xfrm>
          <a:custGeom>
            <a:avLst/>
            <a:gdLst/>
            <a:ahLst/>
            <a:cxnLst/>
            <a:rect l="l" t="t" r="r" b="b"/>
            <a:pathLst>
              <a:path w="2928099" h="2210715">
                <a:moveTo>
                  <a:pt x="0" y="0"/>
                </a:moveTo>
                <a:lnTo>
                  <a:pt x="2928100" y="0"/>
                </a:lnTo>
                <a:lnTo>
                  <a:pt x="2928100" y="2210715"/>
                </a:lnTo>
                <a:lnTo>
                  <a:pt x="0" y="22107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1" name="Freeform 11"/>
          <p:cNvSpPr/>
          <p:nvPr/>
        </p:nvSpPr>
        <p:spPr>
          <a:xfrm>
            <a:off x="9218029" y="7865144"/>
            <a:ext cx="2691588" cy="2009814"/>
          </a:xfrm>
          <a:custGeom>
            <a:avLst/>
            <a:gdLst/>
            <a:ahLst/>
            <a:cxnLst/>
            <a:rect l="l" t="t" r="r" b="b"/>
            <a:pathLst>
              <a:path w="2691588" h="2009814">
                <a:moveTo>
                  <a:pt x="0" y="0"/>
                </a:moveTo>
                <a:lnTo>
                  <a:pt x="2691589" y="0"/>
                </a:lnTo>
                <a:lnTo>
                  <a:pt x="2691589" y="2009814"/>
                </a:lnTo>
                <a:lnTo>
                  <a:pt x="0" y="20098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Freeform 12"/>
          <p:cNvSpPr/>
          <p:nvPr/>
        </p:nvSpPr>
        <p:spPr>
          <a:xfrm>
            <a:off x="13148905" y="8040406"/>
            <a:ext cx="1931107" cy="1834551"/>
          </a:xfrm>
          <a:custGeom>
            <a:avLst/>
            <a:gdLst/>
            <a:ahLst/>
            <a:cxnLst/>
            <a:rect l="l" t="t" r="r" b="b"/>
            <a:pathLst>
              <a:path w="1931107" h="1834551">
                <a:moveTo>
                  <a:pt x="0" y="0"/>
                </a:moveTo>
                <a:lnTo>
                  <a:pt x="1931107" y="0"/>
                </a:lnTo>
                <a:lnTo>
                  <a:pt x="1931107" y="1834552"/>
                </a:lnTo>
                <a:lnTo>
                  <a:pt x="0" y="18345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3" name="TextBox 13"/>
          <p:cNvSpPr txBox="1"/>
          <p:nvPr/>
        </p:nvSpPr>
        <p:spPr>
          <a:xfrm>
            <a:off x="742321" y="1028700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Deployment Architecture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39500" y="3262854"/>
            <a:ext cx="6584384" cy="693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6"/>
              </a:lnSpc>
              <a:spcBef>
                <a:spcPct val="0"/>
              </a:spcBef>
            </a:pPr>
            <a:r>
              <a:rPr lang="en-US" sz="4563">
                <a:solidFill>
                  <a:srgbClr val="22A1E2"/>
                </a:solidFill>
                <a:latin typeface="Lilita One"/>
                <a:ea typeface="Lilita One"/>
                <a:cs typeface="Lilita One"/>
                <a:sym typeface="Lilita One"/>
              </a:rPr>
              <a:t>Client-Server Architecture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95167" y="4119084"/>
            <a:ext cx="7552581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The Frontend (Client Tier)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Role: Acts as the User Interface (UI).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Action: It captures the user's input, sends those inputs via an HTTP request to the backend, and visually displays the returned prediction and data to the user.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657067" y="5957409"/>
            <a:ext cx="7552581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The Backend (Server &amp; Inference Tier)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Role: Acts as the brain and the API.</a:t>
            </a:r>
          </a:p>
          <a:p>
            <a:pPr marL="431801" lvl="1" indent="-215900" algn="l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it loads the saved model file. When it receives a request from the frontend, it processes the data, runs the predict() function, and sends the result back to the frontend as a JSON response.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00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317281" y="2425118"/>
            <a:ext cx="8020429" cy="3970112"/>
          </a:xfrm>
          <a:custGeom>
            <a:avLst/>
            <a:gdLst/>
            <a:ahLst/>
            <a:cxnLst/>
            <a:rect l="l" t="t" r="r" b="b"/>
            <a:pathLst>
              <a:path w="8020429" h="3970112">
                <a:moveTo>
                  <a:pt x="0" y="0"/>
                </a:moveTo>
                <a:lnTo>
                  <a:pt x="8020429" y="0"/>
                </a:lnTo>
                <a:lnTo>
                  <a:pt x="8020429" y="3970113"/>
                </a:lnTo>
                <a:lnTo>
                  <a:pt x="0" y="39701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9693690" y="5138445"/>
            <a:ext cx="7755020" cy="4119855"/>
          </a:xfrm>
          <a:custGeom>
            <a:avLst/>
            <a:gdLst/>
            <a:ahLst/>
            <a:cxnLst/>
            <a:rect l="l" t="t" r="r" b="b"/>
            <a:pathLst>
              <a:path w="7755020" h="4119855">
                <a:moveTo>
                  <a:pt x="0" y="0"/>
                </a:moveTo>
                <a:lnTo>
                  <a:pt x="7755021" y="0"/>
                </a:lnTo>
                <a:lnTo>
                  <a:pt x="7755021" y="4119855"/>
                </a:lnTo>
                <a:lnTo>
                  <a:pt x="0" y="41198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TextBox 7"/>
          <p:cNvSpPr txBox="1"/>
          <p:nvPr/>
        </p:nvSpPr>
        <p:spPr>
          <a:xfrm>
            <a:off x="6031717" y="497980"/>
            <a:ext cx="7970037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  <a:hlinkClick r:id="rId7" tooltip="https://huggingface.co/spaces/KenHoH/ML_Securit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Application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55285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742321" y="266700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User Testing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43182" y="2981325"/>
            <a:ext cx="12442399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5963" lvl="1" indent="-372981" algn="l">
              <a:lnSpc>
                <a:spcPts val="4146"/>
              </a:lnSpc>
              <a:buFont typeface="Arial"/>
              <a:buChar char="•"/>
            </a:pPr>
            <a:r>
              <a:rPr lang="en-US" sz="34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Likert scale to measure the Usability and Usefulness from the proposed application.</a:t>
            </a:r>
          </a:p>
          <a:p>
            <a:pPr marL="745963" lvl="1" indent="-372981" algn="l">
              <a:lnSpc>
                <a:spcPts val="4146"/>
              </a:lnSpc>
              <a:buFont typeface="Arial"/>
              <a:buChar char="•"/>
            </a:pPr>
            <a:r>
              <a:rPr lang="en-US" sz="34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Ask the user on their feed back on the application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43182" y="5696598"/>
            <a:ext cx="13743957" cy="368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The user testing results demonstrate strong overall performance with an average score of 4.3/5 for both usability and usefulness, highlighting the system's high responsiveness, stable backend, and intuitive design for both technical and non-technical users. However, constructive feedback indicates minor areas for improvement, specifically regarding color contrast for attack indicators and the potential addition of a data export feature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66422" y="2212047"/>
            <a:ext cx="6272778" cy="664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76"/>
              </a:lnSpc>
              <a:spcBef>
                <a:spcPct val="0"/>
              </a:spcBef>
            </a:pPr>
            <a:r>
              <a:rPr lang="en-US" sz="4563" dirty="0">
                <a:solidFill>
                  <a:srgbClr val="22A1E2"/>
                </a:solidFill>
                <a:latin typeface="Lilita One"/>
                <a:ea typeface="Lilita One"/>
                <a:cs typeface="Lilita One"/>
                <a:sym typeface="Lilita One"/>
              </a:rPr>
              <a:t>User Testing Design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7800" y="5054271"/>
            <a:ext cx="7152958" cy="6641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76"/>
              </a:lnSpc>
              <a:spcBef>
                <a:spcPct val="0"/>
              </a:spcBef>
            </a:pPr>
            <a:r>
              <a:rPr lang="en-US" sz="4563" dirty="0">
                <a:solidFill>
                  <a:srgbClr val="22A1E2"/>
                </a:solidFill>
                <a:latin typeface="Lilita One"/>
                <a:ea typeface="Lilita One"/>
                <a:cs typeface="Lilita One"/>
                <a:sym typeface="Lilita One"/>
              </a:rPr>
              <a:t>User Testing Result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4842783" y="3930185"/>
            <a:ext cx="9370760" cy="241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24"/>
              </a:lnSpc>
              <a:spcBef>
                <a:spcPct val="0"/>
              </a:spcBef>
            </a:pPr>
            <a:r>
              <a:rPr lang="en-US" sz="15854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-2680874" y="576493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Baseline model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9996" y="3043514"/>
            <a:ext cx="537886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sz="500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Logistic Regression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6338" y="4493019"/>
            <a:ext cx="16104411" cy="2894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6"/>
              </a:lnSpc>
            </a:pP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performance floor at 74.19% accuracy and 0.6295 macro F1. </a:t>
            </a:r>
          </a:p>
          <a:p>
            <a:pPr algn="l">
              <a:lnSpc>
                <a:spcPts val="3786"/>
              </a:lnSpc>
            </a:pP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Interesting Suspicious class recall of 80.03%, high with terrible precision (11.51%) indicates over-predicting the Suspicious cause inability to draw non-linear decision boundaries. </a:t>
            </a:r>
          </a:p>
          <a:p>
            <a:pPr algn="l">
              <a:lnSpc>
                <a:spcPts val="3786"/>
              </a:lnSpc>
            </a:pPr>
            <a:r>
              <a:rPr lang="en-US" sz="31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Its ROC-AUC of 0.9347 is surprisingly competitive, showing it can rank samples decently even if it can't classify them precisely.</a:t>
            </a:r>
          </a:p>
          <a:p>
            <a:pPr algn="l">
              <a:lnSpc>
                <a:spcPts val="3786"/>
              </a:lnSpc>
              <a:spcBef>
                <a:spcPct val="0"/>
              </a:spcBef>
            </a:pPr>
            <a:endParaRPr lang="en-US" sz="3155" dirty="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3" name="Freeform 3"/>
          <p:cNvSpPr/>
          <p:nvPr/>
        </p:nvSpPr>
        <p:spPr>
          <a:xfrm rot="1365716">
            <a:off x="-1595687" y="-1029898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7" y="0"/>
                </a:lnTo>
                <a:lnTo>
                  <a:pt x="3119437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1409927">
            <a:off x="16480724" y="8636285"/>
            <a:ext cx="3017828" cy="3039937"/>
          </a:xfrm>
          <a:custGeom>
            <a:avLst/>
            <a:gdLst/>
            <a:ahLst/>
            <a:cxnLst/>
            <a:rect l="l" t="t" r="r" b="b"/>
            <a:pathLst>
              <a:path w="3017828" h="3039937">
                <a:moveTo>
                  <a:pt x="0" y="0"/>
                </a:moveTo>
                <a:lnTo>
                  <a:pt x="3017828" y="0"/>
                </a:lnTo>
                <a:lnTo>
                  <a:pt x="3017828" y="3039937"/>
                </a:lnTo>
                <a:lnTo>
                  <a:pt x="0" y="30399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442177" y="9725936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16943700" y="61625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TextBox 9"/>
          <p:cNvSpPr txBox="1"/>
          <p:nvPr/>
        </p:nvSpPr>
        <p:spPr>
          <a:xfrm>
            <a:off x="-2417500" y="242105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The Challengers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42177" y="1680730"/>
            <a:ext cx="16132723" cy="3892542"/>
            <a:chOff x="0" y="0"/>
            <a:chExt cx="21510298" cy="519005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171820" cy="1035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KNN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750" y="1333792"/>
              <a:ext cx="21472548" cy="38562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6"/>
                </a:lnSpc>
              </a:pPr>
              <a:r>
                <a:rPr lang="en-US" sz="3155" dirty="0">
                  <a:solidFill>
                    <a:srgbClr val="1C3D8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KNN's results macro F1 of 0.5949 and Suspicious class F1 of 0.1056 (the worst), breaks down under high-dimensional, imbalanced data. </a:t>
              </a:r>
            </a:p>
            <a:p>
              <a:pPr algn="l">
                <a:lnSpc>
                  <a:spcPts val="3786"/>
                </a:lnSpc>
              </a:pPr>
              <a:r>
                <a:rPr lang="en-US" sz="3155" dirty="0">
                  <a:solidFill>
                    <a:srgbClr val="1C3D8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Distance calculations  unreliable when features number in the dozens, and the minority Suspicious class gets effectively ignored. </a:t>
              </a:r>
            </a:p>
            <a:p>
              <a:pPr algn="l">
                <a:lnSpc>
                  <a:spcPts val="3786"/>
                </a:lnSpc>
              </a:pPr>
              <a:r>
                <a:rPr lang="en-US" sz="3155" dirty="0">
                  <a:solidFill>
                    <a:srgbClr val="1C3D8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Its ROC-AUC of 0.8892 is also the lowest, making it unsuitable as anything more than a comparison reference.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23127" y="6030473"/>
            <a:ext cx="16104411" cy="3166212"/>
            <a:chOff x="0" y="0"/>
            <a:chExt cx="21472548" cy="422161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171820" cy="10350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00"/>
                </a:lnSpc>
                <a:spcBef>
                  <a:spcPct val="0"/>
                </a:spcBef>
              </a:pPr>
              <a:r>
                <a:rPr lang="en-US" sz="5000">
                  <a:solidFill>
                    <a:srgbClr val="FFFFFF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SVM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006475"/>
              <a:ext cx="21472548" cy="32151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786"/>
                </a:lnSpc>
              </a:pPr>
              <a:r>
                <a:rPr lang="en-US" sz="3155" dirty="0">
                  <a:solidFill>
                    <a:srgbClr val="1C3D8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SVM achieves 89.91% accuracy and Attack precision of 98.11%, good labeling attack.</a:t>
              </a:r>
            </a:p>
            <a:p>
              <a:pPr algn="l">
                <a:lnSpc>
                  <a:spcPts val="3786"/>
                </a:lnSpc>
              </a:pPr>
              <a:r>
                <a:rPr lang="en-US" sz="3155" dirty="0">
                  <a:solidFill>
                    <a:srgbClr val="1C3D8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However, its Suspicious class F1 of only 0.2643 is a significant weakness. </a:t>
              </a:r>
            </a:p>
            <a:p>
              <a:pPr algn="l">
                <a:lnSpc>
                  <a:spcPts val="3786"/>
                </a:lnSpc>
              </a:pPr>
              <a:r>
                <a:rPr lang="en-US" sz="3155" dirty="0">
                  <a:solidFill>
                    <a:srgbClr val="1C3D8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The macro F1 of 0.6953 confirms SVM's margin-based approach struggles under class imbalance.</a:t>
              </a:r>
            </a:p>
            <a:p>
              <a:pPr algn="l">
                <a:lnSpc>
                  <a:spcPts val="3786"/>
                </a:lnSpc>
              </a:pPr>
              <a:r>
                <a:rPr lang="en-US" sz="3155" dirty="0">
                  <a:solidFill>
                    <a:srgbClr val="1C3D86"/>
                  </a:solidFill>
                  <a:latin typeface="Lilita One"/>
                  <a:ea typeface="Lilita One"/>
                  <a:cs typeface="Lilita One"/>
                  <a:sym typeface="Lilita One"/>
                </a:rPr>
                <a:t>It is also worth noting its ROC-AUC of 0.9453 is far below both primary models.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750110" y="-1338743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3"/>
                </a:lnTo>
                <a:lnTo>
                  <a:pt x="0" y="3102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 rot="-1409927">
            <a:off x="16480724" y="8024595"/>
            <a:ext cx="3017828" cy="3039937"/>
          </a:xfrm>
          <a:custGeom>
            <a:avLst/>
            <a:gdLst/>
            <a:ahLst/>
            <a:cxnLst/>
            <a:rect l="l" t="t" r="r" b="b"/>
            <a:pathLst>
              <a:path w="3017828" h="3039937">
                <a:moveTo>
                  <a:pt x="0" y="0"/>
                </a:moveTo>
                <a:lnTo>
                  <a:pt x="3017828" y="0"/>
                </a:lnTo>
                <a:lnTo>
                  <a:pt x="3017828" y="3039937"/>
                </a:lnTo>
                <a:lnTo>
                  <a:pt x="0" y="30399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848026" y="9295618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-3486487" y="512363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Champions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3276" y="2112594"/>
            <a:ext cx="537886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XGBoost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884119"/>
            <a:ext cx="16104411" cy="2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6"/>
              </a:lnSpc>
            </a:pPr>
            <a:r>
              <a:rPr lang="en-US" sz="3155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XGBoost trails Random Forest slightly on accuracy (94.34%) and weighted F1 (95.07%), but it stands out in one critical area — the Suspicious class recall reaches 97.94%, the highest of any model. This means XGBoost almost never misses a suspicious packet, at the cost of lower precision (45.66%). If the deployment priority is minimizing false negatives (i.e., never letting a suspicious event slip through), XGBoost is the better choice despite the tradeoff.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0388" y="5492423"/>
            <a:ext cx="537886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Lilita One"/>
                <a:ea typeface="Lilita One"/>
                <a:cs typeface="Lilita One"/>
                <a:sym typeface="Lilita One"/>
              </a:rPr>
              <a:t>Random Forest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0388" y="6520785"/>
            <a:ext cx="16104411" cy="2413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6"/>
              </a:lnSpc>
            </a:pPr>
            <a:r>
              <a:rPr lang="en-US" sz="3155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Random Forest is the clear winner across almost every metric. It achieves the highest accuracy (96.57%), F1 weighted (96.67%), F1 macro (88.35%), and ROC-AUC (99.83%). Notably, it also handles the Suspicious class the best among all models in terms of balanced F1 (70.61%), making it the most production-ready candidate. Its performance validates the initial hypothesis that tree-based ensemble methods are best suited for this task.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732796" y="1028700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Limitations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9900" y="2728913"/>
            <a:ext cx="16104411" cy="515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0731" lvl="1" indent="-405365" algn="l">
              <a:lnSpc>
                <a:spcPts val="4506"/>
              </a:lnSpc>
              <a:buFont typeface="Arial"/>
              <a:buChar char="•"/>
            </a:pPr>
            <a:r>
              <a:rPr lang="en-US" sz="37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Dataset Imbalance:  The "Suspicious" traffic class makes up only 3.9% of the dataset, compared to 64.6% for Benign  and 31.5% for Attack. This lack of representation makes it inherently difficult for any algorithm to perfectly classify edge-case anomalies</a:t>
            </a:r>
          </a:p>
          <a:p>
            <a:pPr algn="l">
              <a:lnSpc>
                <a:spcPts val="4506"/>
              </a:lnSpc>
            </a:pPr>
            <a:endParaRPr lang="en-US" sz="3755" dirty="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810731" lvl="1" indent="-405365" algn="l">
              <a:lnSpc>
                <a:spcPts val="4506"/>
              </a:lnSpc>
              <a:buFont typeface="Arial"/>
              <a:buChar char="•"/>
            </a:pPr>
            <a:r>
              <a:rPr lang="en-US" sz="37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The Precision vs. Recall Trade-off: This means the system might be overly cautious, occasionally generating "False Positives" by flagging normal network spikes as suspicious. Even our champion model, Random Forest, peaked at a 70.61% balanced F1 score for this specific minority class.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751846" y="1028700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9900" y="2728913"/>
            <a:ext cx="16104411" cy="661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6"/>
              </a:lnSpc>
            </a:pPr>
            <a:r>
              <a:rPr lang="en-US" sz="39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1. Model Performance Ranking</a:t>
            </a:r>
          </a:p>
          <a:p>
            <a:pPr marL="853910" lvl="1" indent="-426955" algn="l">
              <a:lnSpc>
                <a:spcPts val="4746"/>
              </a:lnSpc>
              <a:buFont typeface="Arial"/>
              <a:buChar char="•"/>
            </a:pPr>
            <a:r>
              <a:rPr lang="en-US" sz="39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Random Forest (Champion): Balanced F1-score of 70.61%.</a:t>
            </a:r>
          </a:p>
          <a:p>
            <a:pPr marL="853910" lvl="1" indent="-426955" algn="l">
              <a:lnSpc>
                <a:spcPts val="4746"/>
              </a:lnSpc>
              <a:buFont typeface="Arial"/>
              <a:buChar char="•"/>
            </a:pPr>
            <a:r>
              <a:rPr lang="en-US" sz="3955" dirty="0" err="1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XGBoost</a:t>
            </a:r>
            <a:r>
              <a:rPr lang="en-US" sz="39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 (High Recall Alternative): It rarely misses a threat but generates more false positives (45.66% Precision).</a:t>
            </a:r>
          </a:p>
          <a:p>
            <a:pPr algn="l">
              <a:lnSpc>
                <a:spcPts val="4746"/>
              </a:lnSpc>
            </a:pPr>
            <a:endParaRPr lang="en-US" sz="3955" dirty="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algn="l">
              <a:lnSpc>
                <a:spcPts val="4746"/>
              </a:lnSpc>
            </a:pPr>
            <a:r>
              <a:rPr lang="en-US" sz="39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2. Why Tree-Based Models Won</a:t>
            </a:r>
          </a:p>
          <a:p>
            <a:pPr marL="853910" lvl="1" indent="-426955" algn="l">
              <a:lnSpc>
                <a:spcPts val="4746"/>
              </a:lnSpc>
              <a:buFont typeface="Arial"/>
              <a:buChar char="•"/>
            </a:pPr>
            <a:r>
              <a:rPr lang="en-US" sz="39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Linear models (Logistic Regression) and distance-based models (KNN) performed poorly (Macro F1 of 62.95% and 59.49%, respectively). This proves that the network traffic data contains complex, non-linear relationships and high-dimensional features that only ensemble methods like Random Forest and </a:t>
            </a:r>
            <a:r>
              <a:rPr lang="en-US" sz="3955" dirty="0" err="1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XGBoost</a:t>
            </a:r>
            <a:r>
              <a:rPr lang="en-US" sz="39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 can effectively navigate.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955719" y="-5233061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2" y="0"/>
                </a:lnTo>
                <a:lnTo>
                  <a:pt x="10376562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713100" y="2101250"/>
            <a:ext cx="17545679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Future Work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3734" y="4048084"/>
            <a:ext cx="16104411" cy="320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7552" lvl="1" indent="-383776" algn="l">
              <a:lnSpc>
                <a:spcPts val="4266"/>
              </a:lnSpc>
              <a:buFont typeface="Arial"/>
              <a:buChar char="•"/>
            </a:pPr>
            <a:r>
              <a:rPr lang="en-US" sz="35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Data Rebalancing: Apply advanced sampling techniques (e.g., SMOTE) or collect more real-world traffic logs to better train the model on the minority "Suspicious" class (currently only 3.9%)</a:t>
            </a:r>
          </a:p>
          <a:p>
            <a:pPr marL="767552" lvl="1" indent="-383776" algn="l">
              <a:lnSpc>
                <a:spcPts val="4266"/>
              </a:lnSpc>
              <a:buFont typeface="Arial"/>
              <a:buChar char="•"/>
            </a:pPr>
            <a:r>
              <a:rPr lang="en-US" sz="35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Feature Expansion: Implement a data export feature allowing cybersecurity analysts to download prediction logs in PDF/CSV format for post-incident reporting.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66021" y="-5431604"/>
            <a:ext cx="10376561" cy="20753122"/>
          </a:xfrm>
          <a:custGeom>
            <a:avLst/>
            <a:gdLst/>
            <a:ahLst/>
            <a:cxnLst/>
            <a:rect l="l" t="t" r="r" b="b"/>
            <a:pathLst>
              <a:path w="10376561" h="20753122">
                <a:moveTo>
                  <a:pt x="0" y="0"/>
                </a:moveTo>
                <a:lnTo>
                  <a:pt x="10376561" y="0"/>
                </a:lnTo>
                <a:lnTo>
                  <a:pt x="10376561" y="20753122"/>
                </a:lnTo>
                <a:lnTo>
                  <a:pt x="0" y="207531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1365716">
            <a:off x="-1220662" y="-522511"/>
            <a:ext cx="3119438" cy="3102422"/>
          </a:xfrm>
          <a:custGeom>
            <a:avLst/>
            <a:gdLst/>
            <a:ahLst/>
            <a:cxnLst/>
            <a:rect l="l" t="t" r="r" b="b"/>
            <a:pathLst>
              <a:path w="3119438" h="3102422">
                <a:moveTo>
                  <a:pt x="0" y="0"/>
                </a:moveTo>
                <a:lnTo>
                  <a:pt x="3119438" y="0"/>
                </a:lnTo>
                <a:lnTo>
                  <a:pt x="3119438" y="3102422"/>
                </a:lnTo>
                <a:lnTo>
                  <a:pt x="0" y="3102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5247497" y="767750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Freeform 5"/>
          <p:cNvSpPr/>
          <p:nvPr/>
        </p:nvSpPr>
        <p:spPr>
          <a:xfrm>
            <a:off x="593980" y="9133827"/>
            <a:ext cx="1504614" cy="248945"/>
          </a:xfrm>
          <a:custGeom>
            <a:avLst/>
            <a:gdLst/>
            <a:ahLst/>
            <a:cxnLst/>
            <a:rect l="l" t="t" r="r" b="b"/>
            <a:pathLst>
              <a:path w="1504614" h="248945">
                <a:moveTo>
                  <a:pt x="0" y="0"/>
                </a:moveTo>
                <a:lnTo>
                  <a:pt x="1504615" y="0"/>
                </a:lnTo>
                <a:lnTo>
                  <a:pt x="1504615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7133111" y="586378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397500" y="9544563"/>
            <a:ext cx="631200" cy="611690"/>
          </a:xfrm>
          <a:custGeom>
            <a:avLst/>
            <a:gdLst/>
            <a:ahLst/>
            <a:cxnLst/>
            <a:rect l="l" t="t" r="r" b="b"/>
            <a:pathLst>
              <a:path w="631200" h="611690">
                <a:moveTo>
                  <a:pt x="0" y="0"/>
                </a:moveTo>
                <a:lnTo>
                  <a:pt x="631200" y="0"/>
                </a:lnTo>
                <a:lnTo>
                  <a:pt x="631200" y="611690"/>
                </a:lnTo>
                <a:lnTo>
                  <a:pt x="0" y="6116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4242746" y="892223"/>
            <a:ext cx="10023112" cy="1340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64"/>
              </a:lnSpc>
              <a:spcBef>
                <a:spcPct val="0"/>
              </a:spcBef>
            </a:pPr>
            <a:r>
              <a:rPr lang="en-US" sz="9220" dirty="0">
                <a:solidFill>
                  <a:schemeClr val="tx2">
                    <a:lumMod val="60000"/>
                    <a:lumOff val="40000"/>
                  </a:schemeClr>
                </a:solidFill>
                <a:latin typeface="Lilita One"/>
                <a:ea typeface="Lilita One"/>
                <a:cs typeface="Lilita One"/>
                <a:sym typeface="Lilita One"/>
              </a:rPr>
              <a:t>Appendix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41117" y="3348314"/>
            <a:ext cx="14405767" cy="458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6"/>
              </a:lnSpc>
            </a:pPr>
            <a:r>
              <a:rPr lang="en-US" sz="37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Random Forest - Full Classification Report</a:t>
            </a:r>
          </a:p>
          <a:p>
            <a:pPr algn="l">
              <a:lnSpc>
                <a:spcPts val="4506"/>
              </a:lnSpc>
            </a:pPr>
            <a:endParaRPr lang="en-US" sz="3755" dirty="0">
              <a:solidFill>
                <a:srgbClr val="1C3D86"/>
              </a:solidFill>
              <a:latin typeface="Lilita One"/>
              <a:ea typeface="Lilita One"/>
              <a:cs typeface="Lilita One"/>
              <a:sym typeface="Lilita One"/>
            </a:endParaRPr>
          </a:p>
          <a:p>
            <a:pPr marL="810731" lvl="1" indent="-405365" algn="l">
              <a:lnSpc>
                <a:spcPts val="4506"/>
              </a:lnSpc>
              <a:buFont typeface="Arial"/>
              <a:buChar char="•"/>
            </a:pPr>
            <a:r>
              <a:rPr lang="en-US" sz="37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Attack: Precision: 0.9676 | Recall: 0.9479 | F1-Score: 0.9576</a:t>
            </a:r>
          </a:p>
          <a:p>
            <a:pPr marL="810731" lvl="1" indent="-405365" algn="l">
              <a:lnSpc>
                <a:spcPts val="4506"/>
              </a:lnSpc>
              <a:buFont typeface="Arial"/>
              <a:buChar char="•"/>
            </a:pPr>
            <a:r>
              <a:rPr lang="en-US" sz="37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Benign: Precision: 0.9878 | Recall: 0.9857 | F1-Score: 0.9867</a:t>
            </a:r>
          </a:p>
          <a:p>
            <a:pPr marL="810731" lvl="1" indent="-405365" algn="l">
              <a:lnSpc>
                <a:spcPts val="4506"/>
              </a:lnSpc>
              <a:buFont typeface="Arial"/>
              <a:buChar char="•"/>
            </a:pPr>
            <a:r>
              <a:rPr lang="en-US" sz="37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Suspicious: Precision: 0.6465 | Recall: 0.7778 | F1-Score: 0.7061</a:t>
            </a:r>
          </a:p>
          <a:p>
            <a:pPr marL="810731" lvl="1" indent="-405365" algn="l">
              <a:lnSpc>
                <a:spcPts val="4506"/>
              </a:lnSpc>
              <a:buFont typeface="Arial"/>
              <a:buChar char="•"/>
            </a:pPr>
            <a:r>
              <a:rPr lang="en-US" sz="37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Global Metrics: * Accuracy: 0.9657</a:t>
            </a:r>
          </a:p>
          <a:p>
            <a:pPr marL="810731" lvl="1" indent="-405365" algn="l">
              <a:lnSpc>
                <a:spcPts val="4506"/>
              </a:lnSpc>
              <a:buFont typeface="Arial"/>
              <a:buChar char="•"/>
            </a:pPr>
            <a:r>
              <a:rPr lang="en-US" sz="37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Macro F1: 0.8835</a:t>
            </a:r>
          </a:p>
          <a:p>
            <a:pPr marL="810731" lvl="1" indent="-405365" algn="l">
              <a:lnSpc>
                <a:spcPts val="4506"/>
              </a:lnSpc>
              <a:buFont typeface="Arial"/>
              <a:buChar char="•"/>
            </a:pPr>
            <a:r>
              <a:rPr lang="en-US" sz="3755" dirty="0">
                <a:solidFill>
                  <a:srgbClr val="1C3D86"/>
                </a:solidFill>
                <a:latin typeface="Lilita One"/>
                <a:ea typeface="Lilita One"/>
                <a:cs typeface="Lilita One"/>
                <a:sym typeface="Lilita One"/>
              </a:rPr>
              <a:t>ROC-AUC: 0.9983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1493</Words>
  <Application>Microsoft Office PowerPoint</Application>
  <PresentationFormat>Custom</PresentationFormat>
  <Paragraphs>136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Calibri</vt:lpstr>
      <vt:lpstr>Lilita One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cp:lastModifiedBy>Kenneth Maximillian Pranata</cp:lastModifiedBy>
  <cp:revision>2</cp:revision>
  <dcterms:created xsi:type="dcterms:W3CDTF">2006-08-16T00:00:00Z</dcterms:created>
  <dcterms:modified xsi:type="dcterms:W3CDTF">2026-06-29T09:04:52Z</dcterms:modified>
  <dc:identifier>DAHKlZEwhME</dc:identifier>
</cp:coreProperties>
</file>